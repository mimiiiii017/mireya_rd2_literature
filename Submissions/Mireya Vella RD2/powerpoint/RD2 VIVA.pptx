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DM Sans" panose="020F0502020204030204" pitchFamily="2" charset="0"/>
      <p:regular r:id="rId12"/>
    </p:embeddedFont>
    <p:embeddedFont>
      <p:font typeface="DM Sans Bold" panose="020B0604020202020204" charset="0"/>
      <p:regular r:id="rId13"/>
    </p:embeddedFont>
    <p:embeddedFont>
      <p:font typeface="DM Sans Bold Italics" panose="020B0604020202020204" charset="0"/>
      <p:regular r:id="rId14"/>
    </p:embeddedFont>
    <p:embeddedFont>
      <p:font typeface="DM Sans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1C325-9221-8B6D-0B26-3B9D027045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9974580"/>
            <a:ext cx="9429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rred colorful gradient"/>
          <p:cNvSpPr/>
          <p:nvPr/>
        </p:nvSpPr>
        <p:spPr>
          <a:xfrm rot="-4319139" flipH="1">
            <a:off x="-604336" y="-2940091"/>
            <a:ext cx="16879088" cy="17446086"/>
          </a:xfrm>
          <a:custGeom>
            <a:avLst/>
            <a:gdLst/>
            <a:ahLst/>
            <a:cxnLst/>
            <a:rect l="l" t="t" r="r" b="b"/>
            <a:pathLst>
              <a:path w="16879088" h="17446086">
                <a:moveTo>
                  <a:pt x="16879088" y="0"/>
                </a:moveTo>
                <a:lnTo>
                  <a:pt x="0" y="0"/>
                </a:lnTo>
                <a:lnTo>
                  <a:pt x="0" y="17446087"/>
                </a:lnTo>
                <a:lnTo>
                  <a:pt x="16879088" y="17446087"/>
                </a:lnTo>
                <a:lnTo>
                  <a:pt x="16879088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08">
            <a:off x="1028700" y="7129449"/>
            <a:ext cx="1623060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510722" y="363636"/>
            <a:ext cx="3018810" cy="860361"/>
          </a:xfrm>
          <a:custGeom>
            <a:avLst/>
            <a:gdLst/>
            <a:ahLst/>
            <a:cxnLst/>
            <a:rect l="l" t="t" r="r" b="b"/>
            <a:pathLst>
              <a:path w="3018810" h="860361">
                <a:moveTo>
                  <a:pt x="0" y="0"/>
                </a:moveTo>
                <a:lnTo>
                  <a:pt x="3018810" y="0"/>
                </a:lnTo>
                <a:lnTo>
                  <a:pt x="3018810" y="860361"/>
                </a:lnTo>
                <a:lnTo>
                  <a:pt x="0" y="86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1028700" y="3199465"/>
            <a:ext cx="16230600" cy="199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3"/>
              </a:lnSpc>
            </a:pPr>
            <a:r>
              <a:rPr lang="en-US" sz="654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 Comparative Study of Monolithic and Modular Architectures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8164830"/>
            <a:ext cx="10160764" cy="1080770"/>
            <a:chOff x="0" y="0"/>
            <a:chExt cx="13547686" cy="1441027"/>
          </a:xfrm>
        </p:grpSpPr>
        <p:sp>
          <p:nvSpPr>
            <p:cNvPr id="7" name="TextBox 7"/>
            <p:cNvSpPr txBox="1"/>
            <p:nvPr/>
          </p:nvSpPr>
          <p:spPr>
            <a:xfrm>
              <a:off x="0" y="764752"/>
              <a:ext cx="13547686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Bachelor of Science (Honours) in Creative Computing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9389847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Mireya Francesca Vella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5304374"/>
            <a:ext cx="14156343" cy="61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3"/>
              </a:lnSpc>
              <a:spcBef>
                <a:spcPct val="0"/>
              </a:spcBef>
            </a:pPr>
            <a:r>
              <a:rPr lang="en-US" sz="381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 a Dataset Driven Case Tracking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rred colorful gradient shape"/>
          <p:cNvSpPr/>
          <p:nvPr/>
        </p:nvSpPr>
        <p:spPr>
          <a:xfrm rot="6048134" flipH="1">
            <a:off x="1020364" y="-4231205"/>
            <a:ext cx="18140054" cy="18749410"/>
          </a:xfrm>
          <a:custGeom>
            <a:avLst/>
            <a:gdLst/>
            <a:ahLst/>
            <a:cxnLst/>
            <a:rect l="l" t="t" r="r" b="b"/>
            <a:pathLst>
              <a:path w="18140054" h="18749410">
                <a:moveTo>
                  <a:pt x="18140054" y="0"/>
                </a:moveTo>
                <a:lnTo>
                  <a:pt x="0" y="0"/>
                </a:lnTo>
                <a:lnTo>
                  <a:pt x="0" y="18749410"/>
                </a:lnTo>
                <a:lnTo>
                  <a:pt x="18140054" y="18749410"/>
                </a:lnTo>
                <a:lnTo>
                  <a:pt x="18140054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1" y="3056570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699" y="1598613"/>
            <a:ext cx="16230603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Hypothesis &amp; Research Questions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699" y="6214889"/>
            <a:ext cx="3786004" cy="2883163"/>
            <a:chOff x="0" y="0"/>
            <a:chExt cx="5048005" cy="3844217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5048005" cy="72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RQ1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60259"/>
              <a:ext cx="5048005" cy="2883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Does modular architecture reduce complexity vs monolithic?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510722" y="363636"/>
            <a:ext cx="3018810" cy="860361"/>
          </a:xfrm>
          <a:custGeom>
            <a:avLst/>
            <a:gdLst/>
            <a:ahLst/>
            <a:cxnLst/>
            <a:rect l="l" t="t" r="r" b="b"/>
            <a:pathLst>
              <a:path w="3018810" h="860361">
                <a:moveTo>
                  <a:pt x="0" y="0"/>
                </a:moveTo>
                <a:lnTo>
                  <a:pt x="3018810" y="0"/>
                </a:lnTo>
                <a:lnTo>
                  <a:pt x="3018810" y="860361"/>
                </a:lnTo>
                <a:lnTo>
                  <a:pt x="0" y="86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699" y="4285295"/>
            <a:ext cx="1623060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modular or layered architecture is more maintainable and testable than a monolithic architecture.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1" y="3609020"/>
            <a:ext cx="378600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Hypothesis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82948" y="6214889"/>
            <a:ext cx="3786004" cy="2883163"/>
            <a:chOff x="0" y="0"/>
            <a:chExt cx="5048005" cy="384421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5048005" cy="72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RQ2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60259"/>
              <a:ext cx="5048005" cy="2883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Does modular architecture improve 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test isolation and 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mock precision?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73777" y="6214889"/>
            <a:ext cx="3786004" cy="2883163"/>
            <a:chOff x="0" y="0"/>
            <a:chExt cx="5048005" cy="384421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5048005" cy="72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60259"/>
              <a:ext cx="5048005" cy="2883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Does architecture 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type affect ingestion throughput or API latency?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840185" y="6214889"/>
            <a:ext cx="3419115" cy="2883163"/>
            <a:chOff x="0" y="0"/>
            <a:chExt cx="4558820" cy="384421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4558820" cy="72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RQ4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60259"/>
              <a:ext cx="4558820" cy="2883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Does architecture type affect how changes propagate through the codebase?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rred colorful gradient shape"/>
          <p:cNvSpPr/>
          <p:nvPr/>
        </p:nvSpPr>
        <p:spPr>
          <a:xfrm rot="2152296">
            <a:off x="10554543" y="-3785506"/>
            <a:ext cx="10173187" cy="10147754"/>
          </a:xfrm>
          <a:custGeom>
            <a:avLst/>
            <a:gdLst/>
            <a:ahLst/>
            <a:cxnLst/>
            <a:rect l="l" t="t" r="r" b="b"/>
            <a:pathLst>
              <a:path w="10173187" h="10147754">
                <a:moveTo>
                  <a:pt x="0" y="0"/>
                </a:moveTo>
                <a:lnTo>
                  <a:pt x="10173187" y="0"/>
                </a:lnTo>
                <a:lnTo>
                  <a:pt x="10173187" y="10147754"/>
                </a:lnTo>
                <a:lnTo>
                  <a:pt x="0" y="10147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4013657"/>
          <a:ext cx="16230600" cy="4733924"/>
        </p:xfrm>
        <a:graphic>
          <a:graphicData uri="http://schemas.openxmlformats.org/drawingml/2006/table">
            <a:tbl>
              <a:tblPr/>
              <a:tblGrid>
                <a:gridCol w="4276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3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425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Architectural Smells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&amp; Maintainability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marL="474979" lvl="1" indent="-237490" algn="l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[1] Mumtaz et al. (2021) Systematic mapping — smell detection landscape</a:t>
                      </a:r>
                      <a:endParaRPr lang="en-US" sz="1100"/>
                    </a:p>
                    <a:p>
                      <a:pPr marL="474979" lvl="1" indent="-237490" algn="l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[3] Sas et al. (2021) Co-change as a coupling and change-propagation proxy</a:t>
                      </a:r>
                    </a:p>
                    <a:p>
                      <a:pPr marL="474979" lvl="1" indent="-237490" algn="l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[6] Esposito et al. (2025) Smell indicators correlated with static analysis warnings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483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Modularity Measurement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&amp; Boundary Quality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C3"/>
                    </a:solidFill>
                  </a:tcPr>
                </a:tc>
                <a:tc>
                  <a:txBody>
                    <a:bodyPr/>
                    <a:lstStyle/>
                    <a:p>
                      <a:pPr marL="474979" lvl="1" indent="-237490" algn="l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[4] Pisch et al. (2024) M-score — empirically derived modularity metric</a:t>
                      </a:r>
                      <a:endParaRPr lang="en-US" sz="1100"/>
                    </a:p>
                    <a:p>
                      <a:pPr marL="474979" lvl="1" indent="-237490" algn="l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[5] Su &amp; Li (2024) Modular monolith as an architectural trend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483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Remodularisation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&amp; Change Impact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marL="474979" lvl="1" indent="-237490" algn="l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[2] Tan et al. (2023) REARRANGE — effort estimation for remodularisation</a:t>
                      </a:r>
                      <a:endParaRPr lang="en-US" sz="1100"/>
                    </a:p>
                    <a:p>
                      <a:pPr marL="474979" lvl="1" indent="-237490" algn="l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[7] Schroeder et al. (2021) Search-based remodularisation at Adyen (industrial)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699" y="1598613"/>
            <a:ext cx="16230603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Literature Review</a:t>
            </a:r>
          </a:p>
        </p:txBody>
      </p:sp>
      <p:sp>
        <p:nvSpPr>
          <p:cNvPr id="5" name="Freeform 5"/>
          <p:cNvSpPr/>
          <p:nvPr/>
        </p:nvSpPr>
        <p:spPr>
          <a:xfrm>
            <a:off x="510722" y="363636"/>
            <a:ext cx="3018810" cy="860361"/>
          </a:xfrm>
          <a:custGeom>
            <a:avLst/>
            <a:gdLst/>
            <a:ahLst/>
            <a:cxnLst/>
            <a:rect l="l" t="t" r="r" b="b"/>
            <a:pathLst>
              <a:path w="3018810" h="860361">
                <a:moveTo>
                  <a:pt x="0" y="0"/>
                </a:moveTo>
                <a:lnTo>
                  <a:pt x="3018810" y="0"/>
                </a:lnTo>
                <a:lnTo>
                  <a:pt x="3018810" y="860361"/>
                </a:lnTo>
                <a:lnTo>
                  <a:pt x="0" y="86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28700" y="2665413"/>
            <a:ext cx="162306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7 peer-reviewed sources across 3 interlocking themes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rred colorful gradient shape"/>
          <p:cNvSpPr/>
          <p:nvPr/>
        </p:nvSpPr>
        <p:spPr>
          <a:xfrm rot="2152296">
            <a:off x="10554543" y="-3785506"/>
            <a:ext cx="10173187" cy="10147754"/>
          </a:xfrm>
          <a:custGeom>
            <a:avLst/>
            <a:gdLst/>
            <a:ahLst/>
            <a:cxnLst/>
            <a:rect l="l" t="t" r="r" b="b"/>
            <a:pathLst>
              <a:path w="10173187" h="10147754">
                <a:moveTo>
                  <a:pt x="0" y="0"/>
                </a:moveTo>
                <a:lnTo>
                  <a:pt x="10173187" y="0"/>
                </a:lnTo>
                <a:lnTo>
                  <a:pt x="10173187" y="10147754"/>
                </a:lnTo>
                <a:lnTo>
                  <a:pt x="0" y="10147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10722" y="363636"/>
            <a:ext cx="3018810" cy="860361"/>
          </a:xfrm>
          <a:custGeom>
            <a:avLst/>
            <a:gdLst/>
            <a:ahLst/>
            <a:cxnLst/>
            <a:rect l="l" t="t" r="r" b="b"/>
            <a:pathLst>
              <a:path w="3018810" h="860361">
                <a:moveTo>
                  <a:pt x="0" y="0"/>
                </a:moveTo>
                <a:lnTo>
                  <a:pt x="3018810" y="0"/>
                </a:lnTo>
                <a:lnTo>
                  <a:pt x="3018810" y="860361"/>
                </a:lnTo>
                <a:lnTo>
                  <a:pt x="0" y="86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825541" y="3341688"/>
            <a:ext cx="12636920" cy="6760752"/>
          </a:xfrm>
          <a:custGeom>
            <a:avLst/>
            <a:gdLst/>
            <a:ahLst/>
            <a:cxnLst/>
            <a:rect l="l" t="t" r="r" b="b"/>
            <a:pathLst>
              <a:path w="12636920" h="6760752">
                <a:moveTo>
                  <a:pt x="0" y="0"/>
                </a:moveTo>
                <a:lnTo>
                  <a:pt x="12636920" y="0"/>
                </a:lnTo>
                <a:lnTo>
                  <a:pt x="12636920" y="6760752"/>
                </a:lnTo>
                <a:lnTo>
                  <a:pt x="0" y="6760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1028699" y="1598613"/>
            <a:ext cx="16230603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Research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65413"/>
            <a:ext cx="162306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Grounded in the Research Onion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rred colorful gradient shape"/>
          <p:cNvSpPr/>
          <p:nvPr/>
        </p:nvSpPr>
        <p:spPr>
          <a:xfrm rot="-8100000" flipH="1">
            <a:off x="7089400" y="600041"/>
            <a:ext cx="8075295" cy="8229600"/>
          </a:xfrm>
          <a:custGeom>
            <a:avLst/>
            <a:gdLst/>
            <a:ahLst/>
            <a:cxnLst/>
            <a:rect l="l" t="t" r="r" b="b"/>
            <a:pathLst>
              <a:path w="8075295" h="8229600">
                <a:moveTo>
                  <a:pt x="8075295" y="0"/>
                </a:moveTo>
                <a:lnTo>
                  <a:pt x="0" y="0"/>
                </a:lnTo>
                <a:lnTo>
                  <a:pt x="0" y="8229600"/>
                </a:lnTo>
                <a:lnTo>
                  <a:pt x="8075295" y="8229600"/>
                </a:lnTo>
                <a:lnTo>
                  <a:pt x="8075295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699" y="2903588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255827"/>
              </p:ext>
            </p:extLst>
          </p:nvPr>
        </p:nvGraphicFramePr>
        <p:xfrm>
          <a:off x="1028700" y="3227438"/>
          <a:ext cx="15945264" cy="2639206"/>
        </p:xfrm>
        <a:graphic>
          <a:graphicData uri="http://schemas.openxmlformats.org/drawingml/2006/table">
            <a:tbl>
              <a:tblPr/>
              <a:tblGrid>
                <a:gridCol w="720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48611326"/>
                    </a:ext>
                  </a:extLst>
                </a:gridCol>
                <a:gridCol w="737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9206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Architecture A: Monolithic</a:t>
                      </a:r>
                      <a:endParaRPr lang="en-US" sz="1100" dirty="0"/>
                    </a:p>
                    <a:p>
                      <a:pPr algn="ctr">
                        <a:lnSpc>
                          <a:spcPts val="4200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All routing, business logic &amp; data access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in a single main.py (632 LOC)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VS</a:t>
                      </a:r>
                      <a:endParaRPr lang="en-US" sz="900" dirty="0"/>
                    </a:p>
                    <a:p>
                      <a:pPr algn="ctr">
                        <a:lnSpc>
                          <a:spcPts val="2800"/>
                        </a:lnSpc>
                      </a:pPr>
                      <a:endParaRPr lang="en-US" sz="2000" dirty="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Architecture B: Modular</a:t>
                      </a:r>
                      <a:endParaRPr lang="en-US" sz="1100" dirty="0"/>
                    </a:p>
                    <a:p>
                      <a:pPr algn="ctr">
                        <a:lnSpc>
                          <a:spcPts val="4200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Router →Service → Repository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across 6 dedicated files (857 LOC)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510722" y="363636"/>
            <a:ext cx="3018810" cy="860361"/>
          </a:xfrm>
          <a:custGeom>
            <a:avLst/>
            <a:gdLst/>
            <a:ahLst/>
            <a:cxnLst/>
            <a:rect l="l" t="t" r="r" b="b"/>
            <a:pathLst>
              <a:path w="3018810" h="860361">
                <a:moveTo>
                  <a:pt x="0" y="0"/>
                </a:moveTo>
                <a:lnTo>
                  <a:pt x="3018810" y="0"/>
                </a:lnTo>
                <a:lnTo>
                  <a:pt x="3018810" y="860361"/>
                </a:lnTo>
                <a:lnTo>
                  <a:pt x="0" y="86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696" y="6991316"/>
          <a:ext cx="16230602" cy="1894269"/>
        </p:xfrm>
        <a:graphic>
          <a:graphicData uri="http://schemas.openxmlformats.org/drawingml/2006/table">
            <a:tbl>
              <a:tblPr/>
              <a:tblGrid>
                <a:gridCol w="4892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2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Same DB schema &amp; migrations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Same 5,000 record synthetic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Same API contract &amp; behaviour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Same 29-test pytest suite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Same CI environment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28699" y="1598613"/>
            <a:ext cx="16230603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Experiment Design &amp; Fairness Controls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238841"/>
            <a:ext cx="162306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Fairness Controls (identical across both implementations)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028696" y="9358986"/>
          <a:ext cx="16230607" cy="670179"/>
        </p:xfrm>
        <a:graphic>
          <a:graphicData uri="http://schemas.openxmlformats.org/drawingml/2006/table">
            <a:tbl>
              <a:tblPr/>
              <a:tblGrid>
                <a:gridCol w="16230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7792">
                <a:tc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1" i="1">
                          <a:solidFill>
                            <a:srgbClr val="FFFFFF"/>
                          </a:solidFill>
                          <a:latin typeface="DM Sans Bold Italics"/>
                          <a:ea typeface="DM Sans Bold Italics"/>
                          <a:cs typeface="DM Sans Bold Italics"/>
                          <a:sym typeface="DM Sans Bold Italics"/>
                        </a:rPr>
                        <a:t>Dataset: Python script (generate_data.py) — 5,000 JSON records, 7 fields, fixed seed 42 for reproducibility. Used as sole input for both backends.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9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748146" y="299957"/>
            <a:ext cx="0" cy="97240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 descr="a blurred colorful gradient shape"/>
          <p:cNvSpPr/>
          <p:nvPr/>
        </p:nvSpPr>
        <p:spPr>
          <a:xfrm rot="2700000">
            <a:off x="16020834" y="-1425450"/>
            <a:ext cx="4318584" cy="3831814"/>
          </a:xfrm>
          <a:custGeom>
            <a:avLst/>
            <a:gdLst/>
            <a:ahLst/>
            <a:cxnLst/>
            <a:rect l="l" t="t" r="r" b="b"/>
            <a:pathLst>
              <a:path w="4318584" h="3831814">
                <a:moveTo>
                  <a:pt x="0" y="0"/>
                </a:moveTo>
                <a:lnTo>
                  <a:pt x="4318584" y="0"/>
                </a:lnTo>
                <a:lnTo>
                  <a:pt x="4318584" y="3831814"/>
                </a:lnTo>
                <a:lnTo>
                  <a:pt x="0" y="3831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29255" t="-4845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434305" y="1052061"/>
            <a:ext cx="6070543" cy="4639994"/>
          </a:xfrm>
          <a:custGeom>
            <a:avLst/>
            <a:gdLst/>
            <a:ahLst/>
            <a:cxnLst/>
            <a:rect l="l" t="t" r="r" b="b"/>
            <a:pathLst>
              <a:path w="6070543" h="4639994">
                <a:moveTo>
                  <a:pt x="0" y="0"/>
                </a:moveTo>
                <a:lnTo>
                  <a:pt x="6070543" y="0"/>
                </a:lnTo>
                <a:lnTo>
                  <a:pt x="6070543" y="4639994"/>
                </a:lnTo>
                <a:lnTo>
                  <a:pt x="0" y="4639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703" r="-57931" b="-497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9229158" y="757064"/>
            <a:ext cx="577276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RQ1:</a:t>
            </a:r>
            <a:r>
              <a:rPr lang="en-US" sz="4500" b="1" u="none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Maintainability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29158" y="2013026"/>
            <a:ext cx="525356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Lines of Code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9158" y="2730839"/>
            <a:ext cx="525356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Monolithic: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632 LOC in 1 file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9158" y="3324564"/>
            <a:ext cx="693202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Modular: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857 LOC across 6 files (+35.6%)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29158" y="3918289"/>
            <a:ext cx="718932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Trade-off: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explicit layer boundaries (Su &amp; Li [5])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29158" y="4807475"/>
            <a:ext cx="525356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Lines of Code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29158" y="5525288"/>
            <a:ext cx="525356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Average CC: 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3.87→ 2.24  (−42%)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29158" y="6119013"/>
            <a:ext cx="693202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Peak CC: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14 Grade C → 9 Grade B (−36%)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29158" y="6712738"/>
            <a:ext cx="718932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Grade-A functions: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80%→ 97%  (+17 pp)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29158" y="7601738"/>
            <a:ext cx="525356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Lines of Code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29158" y="8319551"/>
            <a:ext cx="890956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Mono warning: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line 379 of main.py (dense 632-line function)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29158" y="8913276"/>
            <a:ext cx="556846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 warning: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services/cases.py:56 (layer obvious by filename)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29158" y="1414289"/>
            <a:ext cx="588776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LOC Distribution &amp; Cyclomatic Complexity via Radon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2653611" y="5572913"/>
            <a:ext cx="3631929" cy="4749610"/>
          </a:xfrm>
          <a:custGeom>
            <a:avLst/>
            <a:gdLst/>
            <a:ahLst/>
            <a:cxnLst/>
            <a:rect l="l" t="t" r="r" b="b"/>
            <a:pathLst>
              <a:path w="3631929" h="4749610">
                <a:moveTo>
                  <a:pt x="0" y="0"/>
                </a:moveTo>
                <a:lnTo>
                  <a:pt x="3631930" y="0"/>
                </a:lnTo>
                <a:lnTo>
                  <a:pt x="3631930" y="4749609"/>
                </a:lnTo>
                <a:lnTo>
                  <a:pt x="0" y="474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3972" t="-18244" b="-160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Freeform 19"/>
          <p:cNvSpPr/>
          <p:nvPr/>
        </p:nvSpPr>
        <p:spPr>
          <a:xfrm>
            <a:off x="491044" y="333248"/>
            <a:ext cx="7957064" cy="715584"/>
          </a:xfrm>
          <a:custGeom>
            <a:avLst/>
            <a:gdLst/>
            <a:ahLst/>
            <a:cxnLst/>
            <a:rect l="l" t="t" r="r" b="b"/>
            <a:pathLst>
              <a:path w="7957064" h="715584">
                <a:moveTo>
                  <a:pt x="0" y="0"/>
                </a:moveTo>
                <a:lnTo>
                  <a:pt x="7957064" y="0"/>
                </a:lnTo>
                <a:lnTo>
                  <a:pt x="7957064" y="715584"/>
                </a:lnTo>
                <a:lnTo>
                  <a:pt x="0" y="715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599" r="-28331" b="-942710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rred colorful gradient shape"/>
          <p:cNvSpPr/>
          <p:nvPr/>
        </p:nvSpPr>
        <p:spPr>
          <a:xfrm rot="-8100000" flipH="1">
            <a:off x="7089400" y="600041"/>
            <a:ext cx="8075295" cy="8229600"/>
          </a:xfrm>
          <a:custGeom>
            <a:avLst/>
            <a:gdLst/>
            <a:ahLst/>
            <a:cxnLst/>
            <a:rect l="l" t="t" r="r" b="b"/>
            <a:pathLst>
              <a:path w="8075295" h="8229600">
                <a:moveTo>
                  <a:pt x="8075295" y="0"/>
                </a:moveTo>
                <a:lnTo>
                  <a:pt x="0" y="0"/>
                </a:lnTo>
                <a:lnTo>
                  <a:pt x="0" y="8229600"/>
                </a:lnTo>
                <a:lnTo>
                  <a:pt x="8075295" y="8229600"/>
                </a:lnTo>
                <a:lnTo>
                  <a:pt x="8075295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699" y="2522588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2846438"/>
          <a:ext cx="16230602" cy="1933575"/>
        </p:xfrm>
        <a:graphic>
          <a:graphicData uri="http://schemas.openxmlformats.org/drawingml/2006/table">
            <a:tbl>
              <a:tblPr/>
              <a:tblGrid>
                <a:gridCol w="7629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9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3575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Architecture A: Monolithic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29 / 29 tests passed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0 failures  ·  13 warnings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Runtime: 0.39 s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Architecture B: Modular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29 / 29 tests passed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0 failures  ·  13 warnings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Runtime: 0.53 s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696" y="5812951"/>
          <a:ext cx="16230603" cy="2867024"/>
        </p:xfrm>
        <a:graphic>
          <a:graphicData uri="http://schemas.openxmlformats.org/drawingml/2006/table">
            <a:tbl>
              <a:tblPr/>
              <a:tblGrid>
                <a:gridCol w="5410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7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Concern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Monolithic target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Modular target (layer-boundary)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7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DB Connection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main.get_conn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routers.cases.get_conn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7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Bulk Insert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main.execute_values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repositories.cases.execute_values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7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Patch Accuracy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Module-level (broad)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Layer-boundary (precise)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28700" y="5248241"/>
            <a:ext cx="162306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Mock Injection Strategy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28700" y="9156226"/>
          <a:ext cx="16230607" cy="512445"/>
        </p:xfrm>
        <a:graphic>
          <a:graphicData uri="http://schemas.openxmlformats.org/drawingml/2006/table">
            <a:tbl>
              <a:tblPr/>
              <a:tblGrid>
                <a:gridCol w="16230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420">
                <a:tc>
                  <a:txBody>
                    <a:bodyPr/>
                    <a:lstStyle/>
                    <a:p>
                      <a:pPr algn="l">
                        <a:lnSpc>
                          <a:spcPts val="2170"/>
                        </a:lnSpc>
                        <a:defRPr/>
                      </a:pPr>
                      <a:r>
                        <a:rPr lang="en-US" sz="1550" b="1" i="1">
                          <a:solidFill>
                            <a:srgbClr val="FFFFFF"/>
                          </a:solidFill>
                          <a:latin typeface="DM Sans Bold Italics"/>
                          <a:ea typeface="DM Sans Bold Italics"/>
                          <a:cs typeface="DM Sans Bold Italics"/>
                          <a:sym typeface="DM Sans Bold Italics"/>
                        </a:rPr>
                        <a:t>Layer-boundary patching enables fault attribution to a specific architectural layer - a property monolithic design cannot offer without refactoring (Esposito et al. [6]).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9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028696" y="1208088"/>
            <a:ext cx="577276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RQ2:</a:t>
            </a:r>
            <a:r>
              <a:rPr lang="en-US" sz="4500" b="1" u="none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Testability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6" y="1865313"/>
            <a:ext cx="680275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Shared 29-test API Contract Suite &amp; Mock Injection Precision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176646" y="299957"/>
            <a:ext cx="0" cy="97240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 descr="a blurred colorful gradient shape"/>
          <p:cNvSpPr/>
          <p:nvPr/>
        </p:nvSpPr>
        <p:spPr>
          <a:xfrm rot="2700000">
            <a:off x="16020834" y="-1425450"/>
            <a:ext cx="4318584" cy="3831814"/>
          </a:xfrm>
          <a:custGeom>
            <a:avLst/>
            <a:gdLst/>
            <a:ahLst/>
            <a:cxnLst/>
            <a:rect l="l" t="t" r="r" b="b"/>
            <a:pathLst>
              <a:path w="4318584" h="3831814">
                <a:moveTo>
                  <a:pt x="0" y="0"/>
                </a:moveTo>
                <a:lnTo>
                  <a:pt x="4318584" y="0"/>
                </a:lnTo>
                <a:lnTo>
                  <a:pt x="4318584" y="3831814"/>
                </a:lnTo>
                <a:lnTo>
                  <a:pt x="0" y="3831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29255" t="-4845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8618076" y="1924777"/>
            <a:ext cx="9228404" cy="3901873"/>
          </a:xfrm>
          <a:custGeom>
            <a:avLst/>
            <a:gdLst/>
            <a:ahLst/>
            <a:cxnLst/>
            <a:rect l="l" t="t" r="r" b="b"/>
            <a:pathLst>
              <a:path w="9228404" h="3901873">
                <a:moveTo>
                  <a:pt x="0" y="0"/>
                </a:moveTo>
                <a:lnTo>
                  <a:pt x="9228404" y="0"/>
                </a:lnTo>
                <a:lnTo>
                  <a:pt x="9228404" y="3901873"/>
                </a:lnTo>
                <a:lnTo>
                  <a:pt x="0" y="390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75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8618076" y="839394"/>
            <a:ext cx="577276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RQ4:</a:t>
            </a:r>
            <a:r>
              <a:rPr lang="en-US" sz="4500" b="1" u="none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Change Impact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81952"/>
            <a:ext cx="577276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RQ3:</a:t>
            </a:r>
            <a:r>
              <a:rPr lang="en-US" sz="4500" b="1" u="none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237914"/>
            <a:ext cx="718932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Proxy: pytest suite collection time (mocked DB)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549451"/>
            <a:ext cx="62934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Monolithic: 0.39s  vsModular: 0.53s   (+36%)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581326"/>
            <a:ext cx="652709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Attributable to 6 extra module imports, not logic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779025"/>
            <a:ext cx="652709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 structural performance penalty identified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010925"/>
            <a:ext cx="652709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3284" y="7725300"/>
            <a:ext cx="62934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live DB benchmark conducted (future work)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8076" y="1496619"/>
            <a:ext cx="252686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 Controlled Scenarios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8618076" y="6440964"/>
          <a:ext cx="9228403" cy="2562224"/>
        </p:xfrm>
        <a:graphic>
          <a:graphicData uri="http://schemas.openxmlformats.org/drawingml/2006/table">
            <a:tbl>
              <a:tblPr/>
              <a:tblGrid>
                <a:gridCol w="3262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5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Dimension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S1 Mono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S1 Mod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S2 Mono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S2 Mod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53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Files Modified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Navigation Effort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Regression Risk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lang="en-US" sz="1100"/>
                    </a:p>
                  </a:txBody>
                  <a:tcPr marL="123825" marR="123825" marT="123825" marB="1238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8618076" y="6056838"/>
            <a:ext cx="516843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Score Summary (1=Low, 2=Med, 3=High)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8618076" y="9356220"/>
          <a:ext cx="9228404" cy="605667"/>
        </p:xfrm>
        <a:graphic>
          <a:graphicData uri="http://schemas.openxmlformats.org/drawingml/2006/table">
            <a:tbl>
              <a:tblPr/>
              <a:tblGrid>
                <a:gridCol w="922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5667">
                <a:tc>
                  <a:txBody>
                    <a:bodyPr/>
                    <a:lstStyle/>
                    <a:p>
                      <a:pPr algn="l">
                        <a:lnSpc>
                          <a:spcPts val="2170"/>
                        </a:lnSpc>
                        <a:defRPr/>
                      </a:pPr>
                      <a:r>
                        <a:rPr lang="en-US" sz="1550" b="1" i="1">
                          <a:solidFill>
                            <a:srgbClr val="FFFFFF"/>
                          </a:solidFill>
                          <a:latin typeface="DM Sans Bold Italics"/>
                          <a:ea typeface="DM Sans Bold Italics"/>
                          <a:cs typeface="DM Sans Bold Italics"/>
                          <a:sym typeface="DM Sans Bold Italics"/>
                        </a:rPr>
                        <a:t>Total: Monolithic 14 vs Modular 9 - 36% lower change-impact score</a:t>
                      </a:r>
                      <a:endParaRPr lang="en-US" sz="1100"/>
                    </a:p>
                  </a:txBody>
                  <a:tcPr marL="57150" marR="57150" marT="57150" marB="5715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9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Freeform 17"/>
          <p:cNvSpPr/>
          <p:nvPr/>
        </p:nvSpPr>
        <p:spPr>
          <a:xfrm>
            <a:off x="14952698" y="1547466"/>
            <a:ext cx="2893781" cy="377311"/>
          </a:xfrm>
          <a:custGeom>
            <a:avLst/>
            <a:gdLst/>
            <a:ahLst/>
            <a:cxnLst/>
            <a:rect l="l" t="t" r="r" b="b"/>
            <a:pathLst>
              <a:path w="2893781" h="377311">
                <a:moveTo>
                  <a:pt x="0" y="0"/>
                </a:moveTo>
                <a:lnTo>
                  <a:pt x="2893782" y="0"/>
                </a:lnTo>
                <a:lnTo>
                  <a:pt x="2893782" y="377311"/>
                </a:lnTo>
                <a:lnTo>
                  <a:pt x="0" y="377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399" t="-23519" r="-113363" b="-1064240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5267" y="1083785"/>
            <a:ext cx="4301871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5267" y="2238234"/>
            <a:ext cx="4301871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Hypothesis confirmed across all four research questions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Auto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6396723" y="1063778"/>
            <a:ext cx="0" cy="829798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7258735" y="2635459"/>
            <a:ext cx="10000565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7258735" y="1036160"/>
            <a:ext cx="9025310" cy="130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Hypothesis confirmed: 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modular architecture is more maintainable and testable than the monolithic architecture.</a:t>
            </a:r>
          </a:p>
        </p:txBody>
      </p:sp>
      <p:sp>
        <p:nvSpPr>
          <p:cNvPr id="7" name="AutoShape 7"/>
          <p:cNvSpPr/>
          <p:nvPr/>
        </p:nvSpPr>
        <p:spPr>
          <a:xfrm>
            <a:off x="7258735" y="4467408"/>
            <a:ext cx="10000565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7258735" y="2868822"/>
            <a:ext cx="9025310" cy="130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RQ1 Maintainability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−42% avg CC │ Peak CC 14→9 │ Grade-A 80%→97%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Fault locatable by filename alone</a:t>
            </a:r>
          </a:p>
        </p:txBody>
      </p:sp>
      <p:sp>
        <p:nvSpPr>
          <p:cNvPr id="9" name="AutoShape 9"/>
          <p:cNvSpPr/>
          <p:nvPr/>
        </p:nvSpPr>
        <p:spPr>
          <a:xfrm>
            <a:off x="7258735" y="6299356"/>
            <a:ext cx="10000565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7258735" y="4700770"/>
            <a:ext cx="9025310" cy="130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RQ2 Testability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Layer-boundary mock injection vs module-level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Both suites: 29/29 passed - functional equivalence 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258735" y="8131305"/>
            <a:ext cx="10000565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7258735" y="6532719"/>
            <a:ext cx="9025310" cy="130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RQ3 Performance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0.14 s proxy overhead (module imports, not logic)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structural performance penalty identified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58735" y="8364667"/>
            <a:ext cx="9025310" cy="130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RQ4 Change Impact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score: 14 (Mono) vs 9 (Mod) - 36% lower</a:t>
            </a:r>
          </a:p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Boundaries constrain co-change scope &amp; regression risk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235267" y="5557980"/>
          <a:ext cx="4482769" cy="3314700"/>
        </p:xfrm>
        <a:graphic>
          <a:graphicData uri="http://schemas.openxmlformats.org/drawingml/2006/table">
            <a:tbl>
              <a:tblPr/>
              <a:tblGrid>
                <a:gridCol w="4482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14700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 i="1">
                          <a:solidFill>
                            <a:srgbClr val="FFFFFF"/>
                          </a:solidFill>
                          <a:latin typeface="DM Sans Bold Italics"/>
                          <a:ea typeface="DM Sans Bold Italics"/>
                          <a:cs typeface="DM Sans Bold Italics"/>
                          <a:sym typeface="DM Sans Bold Italics"/>
                        </a:rPr>
                        <a:t>Limitations: </a:t>
                      </a:r>
                      <a:endParaRPr lang="en-US" sz="1100"/>
                    </a:p>
                    <a:p>
                      <a:pPr marL="431801" lvl="1" indent="-215900" algn="l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 i="1">
                          <a:solidFill>
                            <a:srgbClr val="FFFFFF"/>
                          </a:solidFill>
                          <a:latin typeface="DM Sans Italics"/>
                          <a:ea typeface="DM Sans Italics"/>
                          <a:cs typeface="DM Sans Italics"/>
                          <a:sym typeface="DM Sans Italics"/>
                        </a:rPr>
                        <a:t>single stack (FastAPI/PostgreSQL)</a:t>
                      </a:r>
                    </a:p>
                    <a:p>
                      <a:pPr marL="431801" lvl="1" indent="-215900" algn="l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 i="1">
                          <a:solidFill>
                            <a:srgbClr val="FFFFFF"/>
                          </a:solidFill>
                          <a:latin typeface="DM Sans Italics"/>
                          <a:ea typeface="DM Sans Italics"/>
                          <a:cs typeface="DM Sans Italics"/>
                          <a:sym typeface="DM Sans Italics"/>
                        </a:rPr>
                        <a:t>no live DB benchmark </a:t>
                      </a:r>
                    </a:p>
                    <a:p>
                      <a:pPr marL="431801" lvl="1" indent="-215900" algn="l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 i="1">
                          <a:solidFill>
                            <a:srgbClr val="FFFFFF"/>
                          </a:solidFill>
                          <a:latin typeface="DM Sans Italics"/>
                          <a:ea typeface="DM Sans Italics"/>
                          <a:cs typeface="DM Sans Italics"/>
                          <a:sym typeface="DM Sans Italics"/>
                        </a:rPr>
                        <a:t>synthetic dataset only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endParaRPr lang="en-US" sz="2000" i="1">
                        <a:solidFill>
                          <a:srgbClr val="FFFFFF"/>
                        </a:solidFill>
                        <a:latin typeface="DM Sans Italics"/>
                        <a:ea typeface="DM Sans Italics"/>
                        <a:cs typeface="DM Sans Italics"/>
                        <a:sym typeface="DM Sans Italics"/>
                      </a:endParaRP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 b="1" i="1">
                          <a:solidFill>
                            <a:srgbClr val="FFFFFF"/>
                          </a:solidFill>
                          <a:latin typeface="DM Sans Bold Italics"/>
                          <a:ea typeface="DM Sans Bold Italics"/>
                          <a:cs typeface="DM Sans Bold Italics"/>
                          <a:sym typeface="DM Sans Bold Italics"/>
                        </a:rPr>
                        <a:t>Future work:</a:t>
                      </a:r>
                      <a:r>
                        <a:rPr lang="en-US" sz="2000" i="1">
                          <a:solidFill>
                            <a:srgbClr val="FFFFFF"/>
                          </a:solidFill>
                          <a:latin typeface="DM Sans Italics"/>
                          <a:ea typeface="DM Sans Italics"/>
                          <a:cs typeface="DM Sans Italics"/>
                          <a:sym typeface="DM Sans Italics"/>
                        </a:rPr>
                        <a:t> 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 i="1">
                          <a:solidFill>
                            <a:srgbClr val="FFFFFF"/>
                          </a:solidFill>
                          <a:latin typeface="DM Sans Italics"/>
                          <a:ea typeface="DM Sans Italics"/>
                          <a:cs typeface="DM Sans Italics"/>
                          <a:sym typeface="DM Sans Italics"/>
                        </a:rPr>
                        <a:t>live load test, additional stacks, remodularisation cost (Tan et al. [2])</a:t>
                      </a:r>
                    </a:p>
                  </a:txBody>
                  <a:tcPr marL="57150" marR="57150" marT="57150" marB="5715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9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rred colorful gradient shape"/>
          <p:cNvSpPr/>
          <p:nvPr/>
        </p:nvSpPr>
        <p:spPr>
          <a:xfrm rot="4780159">
            <a:off x="3570387" y="-1491388"/>
            <a:ext cx="15529570" cy="15335451"/>
          </a:xfrm>
          <a:custGeom>
            <a:avLst/>
            <a:gdLst/>
            <a:ahLst/>
            <a:cxnLst/>
            <a:rect l="l" t="t" r="r" b="b"/>
            <a:pathLst>
              <a:path w="15529570" h="15335451">
                <a:moveTo>
                  <a:pt x="0" y="0"/>
                </a:moveTo>
                <a:lnTo>
                  <a:pt x="15529570" y="0"/>
                </a:lnTo>
                <a:lnTo>
                  <a:pt x="15529570" y="15335451"/>
                </a:lnTo>
                <a:lnTo>
                  <a:pt x="0" y="1533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480133" y="3374238"/>
            <a:ext cx="1391289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Questions &amp; Discussion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80133" y="6379362"/>
            <a:ext cx="962927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Thank you for listening!</a:t>
            </a:r>
          </a:p>
        </p:txBody>
      </p:sp>
      <p:sp>
        <p:nvSpPr>
          <p:cNvPr id="5" name="Auto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68">
            <a:off x="1480134" y="5595938"/>
            <a:ext cx="1532773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028700" y="8164830"/>
            <a:ext cx="10160764" cy="1080770"/>
            <a:chOff x="0" y="0"/>
            <a:chExt cx="13547686" cy="1441027"/>
          </a:xfrm>
        </p:grpSpPr>
        <p:sp>
          <p:nvSpPr>
            <p:cNvPr id="7" name="TextBox 7"/>
            <p:cNvSpPr txBox="1"/>
            <p:nvPr/>
          </p:nvSpPr>
          <p:spPr>
            <a:xfrm>
              <a:off x="0" y="764752"/>
              <a:ext cx="13547686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Bachelor of Science (Honours) in Creative Computing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9389847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Mireya Francesca Vella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Office PowerPoint</Application>
  <PresentationFormat>Custom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DM Sans Bold</vt:lpstr>
      <vt:lpstr>Arial</vt:lpstr>
      <vt:lpstr>DM Sans Italics</vt:lpstr>
      <vt:lpstr>DM Sans Bold Italics</vt:lpstr>
      <vt:lpstr>Aptos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RD2 VIVA</dc:title>
  <cp:keywords>class='Confidential'</cp:keywords>
  <cp:lastModifiedBy>Mireya Vella</cp:lastModifiedBy>
  <cp:revision>2</cp:revision>
  <dcterms:created xsi:type="dcterms:W3CDTF">2006-08-16T00:00:00Z</dcterms:created>
  <dcterms:modified xsi:type="dcterms:W3CDTF">2026-05-07T06:32:53Z</dcterms:modified>
  <dc:identifier>DAHIsFgnSig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6be818-429b-4d58-aa9d-2919be9b9d19_Enabled">
    <vt:lpwstr>true</vt:lpwstr>
  </property>
  <property fmtid="{D5CDD505-2E9C-101B-9397-08002B2CF9AE}" pid="3" name="MSIP_Label_da6be818-429b-4d58-aa9d-2919be9b9d19_SetDate">
    <vt:lpwstr>2026-05-07T06:32:53Z</vt:lpwstr>
  </property>
  <property fmtid="{D5CDD505-2E9C-101B-9397-08002B2CF9AE}" pid="4" name="MSIP_Label_da6be818-429b-4d58-aa9d-2919be9b9d19_Method">
    <vt:lpwstr>Standard</vt:lpwstr>
  </property>
  <property fmtid="{D5CDD505-2E9C-101B-9397-08002B2CF9AE}" pid="5" name="MSIP_Label_da6be818-429b-4d58-aa9d-2919be9b9d19_Name">
    <vt:lpwstr>Internal</vt:lpwstr>
  </property>
  <property fmtid="{D5CDD505-2E9C-101B-9397-08002B2CF9AE}" pid="6" name="MSIP_Label_da6be818-429b-4d58-aa9d-2919be9b9d19_SiteId">
    <vt:lpwstr>c514bc36-4b33-48d2-bbb1-a3c97d4bf41d</vt:lpwstr>
  </property>
  <property fmtid="{D5CDD505-2E9C-101B-9397-08002B2CF9AE}" pid="7" name="MSIP_Label_da6be818-429b-4d58-aa9d-2919be9b9d19_ActionId">
    <vt:lpwstr>77b69ed2-d2f2-430d-83a9-6b61a43df5fd</vt:lpwstr>
  </property>
  <property fmtid="{D5CDD505-2E9C-101B-9397-08002B2CF9AE}" pid="8" name="MSIP_Label_da6be818-429b-4d58-aa9d-2919be9b9d19_ContentBits">
    <vt:lpwstr>2</vt:lpwstr>
  </property>
  <property fmtid="{D5CDD505-2E9C-101B-9397-08002B2CF9AE}" pid="9" name="MSIP_Label_da6be818-429b-4d58-aa9d-2919be9b9d19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Classified as Internal</vt:lpwstr>
  </property>
</Properties>
</file>